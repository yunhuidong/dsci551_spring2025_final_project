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Montserrat" charset="1" panose="00000500000000000000"/>
      <p:regular r:id="rId16"/>
    </p:embeddedFont>
    <p:embeddedFont>
      <p:font typeface="Garet Italic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12014" y="3466518"/>
            <a:ext cx="13663973" cy="2473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4"/>
              </a:lnSpc>
            </a:pPr>
            <a:r>
              <a:rPr lang="en-US" b="true" sz="5003" spc="-135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EXPLORING COLUMNAR EXECUTION IN DUCKDB THROUGH A SALES ANALYTICS APPLICATION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97001" y="6670848"/>
            <a:ext cx="5217116" cy="52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0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Yunhui Dong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73263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80784" y="1464534"/>
            <a:ext cx="9568755" cy="97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8"/>
              </a:lnSpc>
            </a:pPr>
            <a:r>
              <a:rPr lang="en-US" b="true" sz="6320" spc="549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0784" y="2968562"/>
            <a:ext cx="11012568" cy="4440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5486" indent="-332743" lvl="1">
              <a:lnSpc>
                <a:spcPts val="4746"/>
              </a:lnSpc>
              <a:buFont typeface="Arial"/>
              <a:buChar char="•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Built a sales analytics application using DuckDB and Python</a:t>
            </a:r>
          </a:p>
          <a:p>
            <a:pPr algn="l" marL="643896" indent="-321948" lvl="1">
              <a:lnSpc>
                <a:spcPts val="4592"/>
              </a:lnSpc>
              <a:buFont typeface="Arial"/>
              <a:buChar char="•"/>
            </a:pPr>
            <a:r>
              <a:rPr lang="en-US" sz="29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29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oal: connect DuckDB internals to analytical application behavior</a:t>
            </a:r>
          </a:p>
          <a:p>
            <a:pPr algn="l" marL="643896" indent="-321948" lvl="1">
              <a:lnSpc>
                <a:spcPts val="4592"/>
              </a:lnSpc>
              <a:buFont typeface="Arial"/>
              <a:buChar char="•"/>
            </a:pPr>
            <a:r>
              <a:rPr lang="en-US" sz="29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9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ataset: supermarket sales data</a:t>
            </a:r>
          </a:p>
          <a:p>
            <a:pPr algn="l">
              <a:lnSpc>
                <a:spcPts val="3976"/>
              </a:lnSpc>
            </a:pPr>
          </a:p>
          <a:p>
            <a:pPr algn="l">
              <a:lnSpc>
                <a:spcPts val="3976"/>
              </a:lnSpc>
            </a:pPr>
          </a:p>
          <a:p>
            <a:pPr algn="l">
              <a:lnSpc>
                <a:spcPts val="397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73263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1780784" y="1464534"/>
            <a:ext cx="14099025" cy="973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8"/>
              </a:lnSpc>
            </a:pPr>
            <a:r>
              <a:rPr lang="en-US" b="true" sz="6320" spc="549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CORE INTERNAL FOCUS AREAS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80784" y="3423567"/>
            <a:ext cx="12525956" cy="2972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5486" indent="-332743" lvl="1">
              <a:lnSpc>
                <a:spcPts val="4746"/>
              </a:lnSpc>
              <a:buFont typeface="Arial"/>
              <a:buChar char="•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Columnar storage</a:t>
            </a:r>
          </a:p>
          <a:p>
            <a:pPr algn="l" marL="665486" indent="-332743" lvl="1">
              <a:lnSpc>
                <a:spcPts val="4746"/>
              </a:lnSpc>
              <a:buFont typeface="Arial"/>
              <a:buChar char="•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Vectorized query execution</a:t>
            </a:r>
          </a:p>
          <a:p>
            <a:pPr algn="l" marL="665486" indent="-332743" lvl="1">
              <a:lnSpc>
                <a:spcPts val="4746"/>
              </a:lnSpc>
              <a:buFont typeface="Arial"/>
              <a:buChar char="•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DuckDB is designed for analytical / OLAP workloads</a:t>
            </a:r>
          </a:p>
          <a:p>
            <a:pPr algn="l" marL="665486" indent="-332743" lvl="1">
              <a:lnSpc>
                <a:spcPts val="4746"/>
              </a:lnSpc>
              <a:buFont typeface="Arial"/>
              <a:buChar char="•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Good fit for scans, filtering, and grouped aggregation</a:t>
            </a:r>
          </a:p>
          <a:p>
            <a:pPr algn="l">
              <a:lnSpc>
                <a:spcPts val="474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81711"/>
            <a:ext cx="12525956" cy="417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5486" indent="-332743" lvl="1">
              <a:lnSpc>
                <a:spcPts val="4746"/>
              </a:lnSpc>
              <a:buFont typeface="Arial"/>
              <a:buChar char="•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Main table: supermarket_sales</a:t>
            </a:r>
          </a:p>
          <a:p>
            <a:pPr algn="l" marL="665486" indent="-332743" lvl="1">
              <a:lnSpc>
                <a:spcPts val="4746"/>
              </a:lnSpc>
              <a:buFont typeface="Arial"/>
              <a:buChar char="•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</a:t>
            </a: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ey columns: city, prod</a:t>
            </a: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uct_line, sales, sale_date, payment</a:t>
            </a:r>
          </a:p>
          <a:p>
            <a:pPr algn="l" marL="665486" indent="-332743" lvl="1">
              <a:lnSpc>
                <a:spcPts val="4746"/>
              </a:lnSpc>
              <a:buFont typeface="Arial"/>
              <a:buChar char="•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Main operations:</a:t>
            </a:r>
          </a:p>
          <a:p>
            <a:pPr algn="l" marL="1330972" indent="-443657" lvl="2">
              <a:lnSpc>
                <a:spcPts val="4746"/>
              </a:lnSpc>
              <a:buFont typeface="Arial"/>
              <a:buChar char="⚬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otal sales by city</a:t>
            </a:r>
          </a:p>
          <a:p>
            <a:pPr algn="l" marL="1330972" indent="-443657" lvl="2">
              <a:lnSpc>
                <a:spcPts val="4746"/>
              </a:lnSpc>
              <a:buFont typeface="Arial"/>
              <a:buChar char="⚬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sales in a date range</a:t>
            </a:r>
          </a:p>
          <a:p>
            <a:pPr algn="l" marL="1330972" indent="-443657" lvl="2">
              <a:lnSpc>
                <a:spcPts val="4746"/>
              </a:lnSpc>
              <a:buFont typeface="Arial"/>
              <a:buChar char="⚬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average sales by product line</a:t>
            </a:r>
          </a:p>
          <a:p>
            <a:pPr algn="l">
              <a:lnSpc>
                <a:spcPts val="4746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94099" y="6972611"/>
            <a:ext cx="16385458" cy="1822882"/>
          </a:xfrm>
          <a:custGeom>
            <a:avLst/>
            <a:gdLst/>
            <a:ahLst/>
            <a:cxnLst/>
            <a:rect r="r" b="b" t="t" l="l"/>
            <a:pathLst>
              <a:path h="1822882" w="16385458">
                <a:moveTo>
                  <a:pt x="0" y="0"/>
                </a:moveTo>
                <a:lnTo>
                  <a:pt x="16385458" y="0"/>
                </a:lnTo>
                <a:lnTo>
                  <a:pt x="16385458" y="1822882"/>
                </a:lnTo>
                <a:lnTo>
                  <a:pt x="0" y="1822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17370"/>
            <a:ext cx="14099025" cy="897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3"/>
              </a:lnSpc>
            </a:pPr>
            <a:r>
              <a:rPr lang="en-US" b="true" sz="5820" spc="506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APPLICATION 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173087"/>
            <a:ext cx="2949152" cy="2904202"/>
          </a:xfrm>
          <a:custGeom>
            <a:avLst/>
            <a:gdLst/>
            <a:ahLst/>
            <a:cxnLst/>
            <a:rect r="r" b="b" t="t" l="l"/>
            <a:pathLst>
              <a:path h="2904202" w="2949152">
                <a:moveTo>
                  <a:pt x="0" y="0"/>
                </a:moveTo>
                <a:lnTo>
                  <a:pt x="2949152" y="0"/>
                </a:lnTo>
                <a:lnTo>
                  <a:pt x="2949152" y="2904202"/>
                </a:lnTo>
                <a:lnTo>
                  <a:pt x="0" y="2904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0" t="0" r="-97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94860"/>
            <a:ext cx="9054985" cy="6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0908" indent="-310454" lvl="1">
              <a:lnSpc>
                <a:spcPts val="4428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What the application does</a:t>
            </a:r>
          </a:p>
          <a:p>
            <a:pPr algn="l" marL="1241815" indent="-413938" lvl="2">
              <a:lnSpc>
                <a:spcPts val="4428"/>
              </a:lnSpc>
              <a:buFont typeface="Arial"/>
              <a:buChar char="⚬"/>
            </a:pPr>
            <a:r>
              <a:rPr lang="en-US" sz="28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8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omputes to</a:t>
            </a:r>
            <a:r>
              <a:rPr lang="en-US" sz="28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tal sales for each city</a:t>
            </a:r>
          </a:p>
          <a:p>
            <a:pPr algn="l" marL="620908" indent="-310454" lvl="1">
              <a:lnSpc>
                <a:spcPts val="4428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What the database does internally</a:t>
            </a:r>
          </a:p>
          <a:p>
            <a:pPr algn="l" marL="1241815" indent="-413938" lvl="2">
              <a:lnSpc>
                <a:spcPts val="4428"/>
              </a:lnSpc>
              <a:buFont typeface="Arial"/>
              <a:buChar char="⚬"/>
            </a:pPr>
            <a:r>
              <a:rPr lang="en-US" sz="28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</a:t>
            </a:r>
            <a:r>
              <a:rPr lang="en-US" sz="28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ads city and sales</a:t>
            </a:r>
          </a:p>
          <a:p>
            <a:pPr algn="l" marL="1241815" indent="-413938" lvl="2">
              <a:lnSpc>
                <a:spcPts val="4428"/>
              </a:lnSpc>
              <a:buFont typeface="Arial"/>
              <a:buChar char="⚬"/>
            </a:pPr>
            <a:r>
              <a:rPr lang="en-US" sz="28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Performs grouped aggregation</a:t>
            </a:r>
          </a:p>
          <a:p>
            <a:pPr algn="l" marL="1241815" indent="-413938" lvl="2">
              <a:lnSpc>
                <a:spcPts val="4428"/>
              </a:lnSpc>
              <a:buFont typeface="Arial"/>
              <a:buChar char="⚬"/>
            </a:pPr>
            <a:r>
              <a:rPr lang="en-US" sz="28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EXPLAIN</a:t>
            </a:r>
            <a:r>
              <a:rPr lang="en-US" sz="28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shows HASH_GROUP_BY</a:t>
            </a:r>
          </a:p>
          <a:p>
            <a:pPr algn="l" marL="620908" indent="-310454" lvl="1">
              <a:lnSpc>
                <a:spcPts val="4428"/>
              </a:lnSpc>
              <a:buFont typeface="Arial"/>
              <a:buChar char="•"/>
            </a:pPr>
            <a:r>
              <a:rPr lang="en-US" sz="28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that internal behavior matters</a:t>
            </a:r>
          </a:p>
          <a:p>
            <a:pPr algn="l" marL="1241815" indent="-413938" lvl="2">
              <a:lnSpc>
                <a:spcPts val="4428"/>
              </a:lnSpc>
              <a:buFont typeface="Arial"/>
              <a:buChar char="⚬"/>
            </a:pPr>
            <a:r>
              <a:rPr lang="en-US" sz="28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query does not need all columns in the table</a:t>
            </a:r>
          </a:p>
          <a:p>
            <a:pPr algn="l" marL="1241815" indent="-413938" lvl="2">
              <a:lnSpc>
                <a:spcPts val="4428"/>
              </a:lnSpc>
              <a:buFont typeface="Arial"/>
              <a:buChar char="⚬"/>
            </a:pPr>
            <a:r>
              <a:rPr lang="en-US" sz="287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shows how DuckDB supports analytical aggregation efficiently</a:t>
            </a:r>
          </a:p>
          <a:p>
            <a:pPr algn="l">
              <a:lnSpc>
                <a:spcPts val="4428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189597" y="2173087"/>
            <a:ext cx="2888431" cy="6067581"/>
          </a:xfrm>
          <a:custGeom>
            <a:avLst/>
            <a:gdLst/>
            <a:ahLst/>
            <a:cxnLst/>
            <a:rect r="r" b="b" t="t" l="l"/>
            <a:pathLst>
              <a:path h="6067581" w="2888431">
                <a:moveTo>
                  <a:pt x="0" y="0"/>
                </a:moveTo>
                <a:lnTo>
                  <a:pt x="2888431" y="0"/>
                </a:lnTo>
                <a:lnTo>
                  <a:pt x="2888431" y="6067581"/>
                </a:lnTo>
                <a:lnTo>
                  <a:pt x="0" y="6067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74474" y="2173087"/>
            <a:ext cx="2814581" cy="6283138"/>
          </a:xfrm>
          <a:custGeom>
            <a:avLst/>
            <a:gdLst/>
            <a:ahLst/>
            <a:cxnLst/>
            <a:rect r="r" b="b" t="t" l="l"/>
            <a:pathLst>
              <a:path h="6283138" w="2814581">
                <a:moveTo>
                  <a:pt x="0" y="0"/>
                </a:moveTo>
                <a:lnTo>
                  <a:pt x="2814581" y="0"/>
                </a:lnTo>
                <a:lnTo>
                  <a:pt x="2814581" y="6283137"/>
                </a:lnTo>
                <a:lnTo>
                  <a:pt x="0" y="6283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226895"/>
            <a:ext cx="15553064" cy="755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4"/>
              </a:lnSpc>
            </a:pPr>
            <a:r>
              <a:rPr lang="en-US" b="true" sz="4920" spc="428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MAJOR OPERATION 1: TOTAL SALES BY CITY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60458" y="8728981"/>
            <a:ext cx="6228597" cy="529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1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Sequential scan of city and sales → hash-based grouping by city → </a:t>
            </a:r>
          </a:p>
          <a:p>
            <a:pPr algn="ctr">
              <a:lnSpc>
                <a:spcPts val="2101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sum sales for each group → sort results by total sales descending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26895"/>
            <a:ext cx="14099025" cy="150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4"/>
              </a:lnSpc>
            </a:pPr>
            <a:r>
              <a:rPr lang="en-US" b="true" sz="4920" spc="428">
                <a:solidFill>
                  <a:srgbClr val="000000"/>
                </a:solidFill>
                <a:latin typeface="Raleway Heavy"/>
                <a:ea typeface="Raleway Heavy"/>
                <a:cs typeface="Raleway Heavy"/>
                <a:sym typeface="Raleway Heavy"/>
              </a:rPr>
              <a:t>MORE MAJOR OPERATIONS AND INTERNAL MAPPINGS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85797"/>
            <a:ext cx="6868063" cy="657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6"/>
              </a:lnSpc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Operation 2: Sales in a Date Range</a:t>
            </a:r>
          </a:p>
          <a:p>
            <a:pPr algn="l" marL="665486" indent="-332743" lvl="1">
              <a:lnSpc>
                <a:spcPts val="4746"/>
              </a:lnSpc>
              <a:buFont typeface="Arial"/>
              <a:buChar char="•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Application: computes total sales in a selected time window</a:t>
            </a:r>
          </a:p>
          <a:p>
            <a:pPr algn="l" marL="665486" indent="-332743" lvl="1">
              <a:lnSpc>
                <a:spcPts val="4746"/>
              </a:lnSpc>
              <a:buFont typeface="Arial"/>
              <a:buChar char="•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Database: filters rows on </a:t>
            </a:r>
            <a:r>
              <a:rPr lang="en-US" sz="3082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sale_date</a:t>
            </a: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and aggregates </a:t>
            </a:r>
            <a:r>
              <a:rPr lang="en-US" sz="3082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sales</a:t>
            </a:r>
          </a:p>
          <a:p>
            <a:pPr algn="l" marL="665486" indent="-332743" lvl="1">
              <a:lnSpc>
                <a:spcPts val="4746"/>
              </a:lnSpc>
              <a:buFont typeface="Arial"/>
              <a:buChar char="•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it matters: shows how filtering and aggregation support reporting workloads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38620" y="2685797"/>
            <a:ext cx="6868063" cy="657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6"/>
              </a:lnSpc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Operation 3: Average Sales by Product Line</a:t>
            </a:r>
          </a:p>
          <a:p>
            <a:pPr algn="l" marL="665486" indent="-332743" lvl="1">
              <a:lnSpc>
                <a:spcPts val="4746"/>
              </a:lnSpc>
              <a:buFont typeface="Arial"/>
              <a:buChar char="•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Application: compares product categories by average sales</a:t>
            </a:r>
          </a:p>
          <a:p>
            <a:pPr algn="l" marL="665486" indent="-332743" lvl="1">
              <a:lnSpc>
                <a:spcPts val="4746"/>
              </a:lnSpc>
              <a:buFont typeface="Arial"/>
              <a:buChar char="•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Database: groups by pro</a:t>
            </a: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uc</a:t>
            </a: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_lin</a:t>
            </a: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and aggregates </a:t>
            </a: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sales</a:t>
            </a:r>
          </a:p>
          <a:p>
            <a:pPr algn="l" marL="665486" indent="-332743" lvl="1">
              <a:lnSpc>
                <a:spcPts val="4746"/>
              </a:lnSpc>
              <a:buFont typeface="Arial"/>
              <a:buChar char="•"/>
            </a:pPr>
            <a:r>
              <a:rPr lang="en-US" sz="308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it matters: shows another analytical query pattern supported by DuckDB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213358" y="1524651"/>
            <a:ext cx="5560219" cy="3453320"/>
          </a:xfrm>
          <a:custGeom>
            <a:avLst/>
            <a:gdLst/>
            <a:ahLst/>
            <a:cxnLst/>
            <a:rect r="r" b="b" t="t" l="l"/>
            <a:pathLst>
              <a:path h="3453320" w="5560219">
                <a:moveTo>
                  <a:pt x="0" y="0"/>
                </a:moveTo>
                <a:lnTo>
                  <a:pt x="5560219" y="0"/>
                </a:lnTo>
                <a:lnTo>
                  <a:pt x="5560219" y="3453320"/>
                </a:lnTo>
                <a:lnTo>
                  <a:pt x="0" y="3453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213358" y="5143500"/>
            <a:ext cx="5560219" cy="3690835"/>
          </a:xfrm>
          <a:custGeom>
            <a:avLst/>
            <a:gdLst/>
            <a:ahLst/>
            <a:cxnLst/>
            <a:rect r="r" b="b" t="t" l="l"/>
            <a:pathLst>
              <a:path h="3690835" w="5560219">
                <a:moveTo>
                  <a:pt x="0" y="0"/>
                </a:moveTo>
                <a:lnTo>
                  <a:pt x="5560219" y="0"/>
                </a:lnTo>
                <a:lnTo>
                  <a:pt x="5560219" y="3690835"/>
                </a:lnTo>
                <a:lnTo>
                  <a:pt x="0" y="36908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57725" y="2104772"/>
            <a:ext cx="9489452" cy="674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1"/>
              </a:lnSpc>
            </a:pP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Validation</a:t>
            </a:r>
          </a:p>
          <a:p>
            <a:pPr algn="l" marL="626940" indent="-313470" lvl="1">
              <a:lnSpc>
                <a:spcPts val="4471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Used EXPLAIN and EXPLAIN ANALYZE to ins</a:t>
            </a: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pect query behavior</a:t>
            </a:r>
          </a:p>
          <a:p>
            <a:pPr algn="l" marL="626940" indent="-313470" lvl="1">
              <a:lnSpc>
                <a:spcPts val="4471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Created scaled datasets: original / 10x / 100x</a:t>
            </a:r>
          </a:p>
          <a:p>
            <a:pPr algn="l" marL="626940" indent="-313470" lvl="1">
              <a:lnSpc>
                <a:spcPts val="4471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Compared runtime for representative analytical queries</a:t>
            </a:r>
          </a:p>
          <a:p>
            <a:pPr algn="l">
              <a:lnSpc>
                <a:spcPts val="4471"/>
              </a:lnSpc>
            </a:pP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Key Takeaways</a:t>
            </a:r>
          </a:p>
          <a:p>
            <a:pPr algn="l" marL="626940" indent="-313470" lvl="1">
              <a:lnSpc>
                <a:spcPts val="4471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DuckDB i</a:t>
            </a: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goo</a:t>
            </a: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fi</a:t>
            </a: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for analytical workloads</a:t>
            </a:r>
          </a:p>
          <a:p>
            <a:pPr algn="l" marL="626940" indent="-313470" lvl="1">
              <a:lnSpc>
                <a:spcPts val="4471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Grouped aggregation and filtering map natur</a:t>
            </a: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</a:t>
            </a: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ly to its </a:t>
            </a: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xecution model</a:t>
            </a:r>
          </a:p>
          <a:p>
            <a:pPr algn="l" marL="626940" indent="-313470" lvl="1">
              <a:lnSpc>
                <a:spcPts val="4471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 application demonstrates how database internals affect query behavior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7725" y="1170129"/>
            <a:ext cx="11757282" cy="728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7"/>
              </a:lnSpc>
            </a:pPr>
            <a:r>
              <a:rPr lang="en-US" b="true" sz="4953" spc="2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VALIDATION AND CONCLUSION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273573" y="3212672"/>
            <a:ext cx="13663973" cy="372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06"/>
              </a:lnSpc>
            </a:pPr>
            <a:r>
              <a:rPr lang="en-US" b="true" sz="11302" spc="565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THANK</a:t>
            </a:r>
          </a:p>
          <a:p>
            <a:pPr algn="ctr">
              <a:lnSpc>
                <a:spcPts val="14806"/>
              </a:lnSpc>
            </a:pPr>
            <a:r>
              <a:rPr lang="en-US" b="true" sz="11302" spc="565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DAHHY8TCp4w</dc:identifier>
  <dcterms:modified xsi:type="dcterms:W3CDTF">2011-08-01T06:04:30Z</dcterms:modified>
  <cp:revision>1</cp:revision>
  <dc:title>551_demo_slides</dc:title>
</cp:coreProperties>
</file>